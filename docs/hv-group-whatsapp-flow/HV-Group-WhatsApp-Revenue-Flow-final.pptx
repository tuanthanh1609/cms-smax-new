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_MASTER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38560" cy="0"/>
          </a:xfrm>
          <a:prstGeom prst="line">
            <a:avLst/>
          </a:prstGeom>
          <a:noFill/>
          <a:ln w="10160">
            <a:solidFill>
              <a:srgbClr val="D8E4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6858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spc="110" kern="0" dirty="0">
                <a:solidFill>
                  <a:srgbClr val="718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 GROUP × SMAX.AI  •  WHATSAPP REVENUE ACTIVATION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875520" y="6565392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718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flow 07/08/2026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TỔNG QUAN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nguồn Ads — bốn luồng doanh thu khác nhau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campaign có nội dung, điểm vào, nhánh follow-up và event riêng. Creative Test là lớp học chung, không phải một funnel độc lập.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8366760" y="347472"/>
            <a:ext cx="315468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39912" y="429768"/>
            <a:ext cx="30083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20/08–02/09  •  100% BUDGET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700784"/>
            <a:ext cx="566928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74193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667512" y="199339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PURCHASE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40% → 50%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228600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157276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71907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724912" y="20116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• Proof/BPOM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• Value/Bundle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38912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157276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71907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828032" y="20116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Ads → WhatsApp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“Cek stok / Pesan”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53796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12280" y="157276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171907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976872" y="20116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hỏi tối đa 2 tín hiệu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SKU → Order summary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868680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61120" y="157276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171907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125712" y="201168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mua: Price / Trust / Fit / Shipping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mua: Utility + chăm sóc</a:t>
            </a:r>
            <a:endParaRPr lang="en-US" sz="690" dirty="0"/>
          </a:p>
        </p:txBody>
      </p:sp>
      <p:sp>
        <p:nvSpPr>
          <p:cNvPr id="27" name="Shape 25"/>
          <p:cNvSpPr/>
          <p:nvPr/>
        </p:nvSpPr>
        <p:spPr>
          <a:xfrm>
            <a:off x="10698480" y="1947672"/>
            <a:ext cx="237744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972800" y="157276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37392" y="171907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• Delivered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ROAS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502920" y="257860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" y="2706624"/>
            <a:ext cx="566928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274777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67512" y="299923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QUALITY LEAD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→ 22% → 15%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228600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560320" y="257860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24912" y="272491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2724912" y="301752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hook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“60 detik temukan produk”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438912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663440" y="257860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7249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4828032" y="30175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Ads → WhatsApp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mở Quiz Webview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653796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812280" y="257860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272491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6976872" y="301752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câu: concern • category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• buying timing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868680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961120" y="25786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25712" y="272491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9125712" y="301752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dở: 30m + 6h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tất: score Hot/Warm/Cold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10698480" y="2953512"/>
            <a:ext cx="237744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972800" y="257860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137392" y="272491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• Delivered</a:t>
            </a:r>
            <a:endParaRPr lang="en-US" sz="640" dirty="0"/>
          </a:p>
        </p:txBody>
      </p:sp>
      <p:sp>
        <p:nvSpPr>
          <p:cNvPr id="53" name="Shape 51"/>
          <p:cNvSpPr/>
          <p:nvPr/>
        </p:nvSpPr>
        <p:spPr>
          <a:xfrm>
            <a:off x="502920" y="358444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" y="3712464"/>
            <a:ext cx="566928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" y="375361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667512" y="400507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FINDER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→ 13% → 10%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228600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2560320" y="358444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24912" y="373075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2724912" y="402336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• Budget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/ Benefit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438912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663440" y="358444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73075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4828032" y="402336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Webview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WhatsApp-first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653796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812280" y="358444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76872" y="373075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68" name="Text 66"/>
          <p:cNvSpPr/>
          <p:nvPr/>
        </p:nvSpPr>
        <p:spPr>
          <a:xfrm>
            <a:off x="6976872" y="402336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→ chọn SKU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lưu context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868680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8961120" y="358444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25712" y="373075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9125712" y="402336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Ẩn danh: Ads remarketing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danh: WhatsApp follow-up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10698480" y="3959352"/>
            <a:ext cx="237744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10972800" y="358444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137392" y="373075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ViewContent • Lead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502920" y="4590288"/>
            <a:ext cx="1737360" cy="749808"/>
          </a:xfrm>
          <a:prstGeom prst="roundRect">
            <a:avLst>
              <a:gd name="adj" fmla="val 97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9224" y="4718304"/>
            <a:ext cx="566928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9224" y="475945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79" name="Text 77"/>
          <p:cNvSpPr/>
          <p:nvPr/>
        </p:nvSpPr>
        <p:spPr>
          <a:xfrm>
            <a:off x="667512" y="5010912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REMARKETING &amp; REPEAT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15% → 20%</a:t>
            </a:r>
            <a:endParaRPr lang="en-US" sz="960" dirty="0"/>
          </a:p>
        </p:txBody>
      </p:sp>
      <p:sp>
        <p:nvSpPr>
          <p:cNvPr id="80" name="Shape 78"/>
          <p:cNvSpPr/>
          <p:nvPr/>
        </p:nvSpPr>
        <p:spPr>
          <a:xfrm>
            <a:off x="228600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2560320" y="4590288"/>
            <a:ext cx="1783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24912" y="4736592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ADS</a:t>
            </a:r>
            <a:endParaRPr lang="en-US" sz="920" dirty="0"/>
          </a:p>
        </p:txBody>
      </p:sp>
      <p:sp>
        <p:nvSpPr>
          <p:cNvPr id="83" name="Text 81"/>
          <p:cNvSpPr/>
          <p:nvPr/>
        </p:nvSpPr>
        <p:spPr>
          <a:xfrm>
            <a:off x="2724912" y="502920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• Trust • Fit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• Replenishment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438912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4663440" y="459028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28032" y="4736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VÀO</a:t>
            </a:r>
            <a:endParaRPr lang="en-US" sz="920" dirty="0"/>
          </a:p>
        </p:txBody>
      </p:sp>
      <p:sp>
        <p:nvSpPr>
          <p:cNvPr id="87" name="Text 85"/>
          <p:cNvSpPr/>
          <p:nvPr/>
        </p:nvSpPr>
        <p:spPr>
          <a:xfrm>
            <a:off x="4828032" y="50292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Tệp theo reason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hoặc lifecycle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653796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6812280" y="4590288"/>
            <a:ext cx="1828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76872" y="473659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XỬ LÝ</a:t>
            </a:r>
            <a:endParaRPr lang="en-US" sz="920" dirty="0"/>
          </a:p>
        </p:txBody>
      </p:sp>
      <p:sp>
        <p:nvSpPr>
          <p:cNvPr id="91" name="Text 89"/>
          <p:cNvSpPr/>
          <p:nvPr/>
        </p:nvSpPr>
        <p:spPr>
          <a:xfrm>
            <a:off x="6976872" y="50292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đúng rào cản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quay lại WhatsApp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868680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8961120" y="459028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125712" y="473659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RẼ NHÁNH</a:t>
            </a:r>
            <a:endParaRPr lang="en-US" sz="920" dirty="0"/>
          </a:p>
        </p:txBody>
      </p:sp>
      <p:sp>
        <p:nvSpPr>
          <p:cNvPr id="95" name="Text 93"/>
          <p:cNvSpPr/>
          <p:nvPr/>
        </p:nvSpPr>
        <p:spPr>
          <a:xfrm>
            <a:off x="9125712" y="5029200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 / Bỏ giỏ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 / VIP / Dormant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10698480" y="4965192"/>
            <a:ext cx="237744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10972800" y="4590288"/>
            <a:ext cx="713232" cy="749808"/>
          </a:xfrm>
          <a:prstGeom prst="roundRect">
            <a:avLst>
              <a:gd name="adj" fmla="val 102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137392" y="4736592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Revenue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</a:t>
            </a:r>
            <a:endParaRPr lang="en-US" sz="640" dirty="0"/>
          </a:p>
        </p:txBody>
      </p:sp>
      <p:sp>
        <p:nvSpPr>
          <p:cNvPr id="99" name="Shape 97"/>
          <p:cNvSpPr/>
          <p:nvPr/>
        </p:nvSpPr>
        <p:spPr>
          <a:xfrm>
            <a:off x="502920" y="5532120"/>
            <a:ext cx="11183112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 w="13970">
            <a:solidFill>
              <a:srgbClr val="B9C9E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7512" y="5678424"/>
            <a:ext cx="10853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TEST — LỚP HỌC CHUNG CHO TOÀN BỘ FUNNEL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667512" y="5897880"/>
            <a:ext cx="10853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Creator • CTA • Offer • Timing. Mỗi test chỉ đổi 1 biến; giữ nguyên objective, audience và placements. Chọn winner theo cost/đơn giao thành công và Net ROAS — không theo CTR/CPC.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Quality Lead — từ quảng cáo đến đơn hàng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pilot ưu tiên WhatsApp-first để Smax định danh khách trước, lưu tiến độ và có thể follow-up người bỏ dở.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399032"/>
            <a:ext cx="205740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81328"/>
            <a:ext cx="1911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CAMPAIGN: LEADS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97480" y="1399032"/>
            <a:ext cx="288036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481328"/>
            <a:ext cx="27340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SET: MESSAGING APPS → WHATSAPP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687568" y="1399032"/>
            <a:ext cx="233172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481328"/>
            <a:ext cx="218541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MAXIMIZE CONVERSATIONS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138160" y="1399032"/>
            <a:ext cx="3154680" cy="283464"/>
          </a:xfrm>
          <a:prstGeom prst="round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481328"/>
            <a:ext cx="30083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DOWNSTREAM: QUALIFIED LEAD → PURCHASE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2920" y="1792224"/>
            <a:ext cx="1965960" cy="1426464"/>
          </a:xfrm>
          <a:prstGeom prst="roundRect">
            <a:avLst>
              <a:gd name="adj" fmla="val 5128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1920240"/>
            <a:ext cx="50292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1961388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667512" y="221284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ADS A/B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67512" y="2505456"/>
            <a:ext cx="16367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Problem hook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“Kulit kusam, kering atau sensitif?”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Result hook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“60 detik untuk menemukan produk cocok”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Mulai Quiz</a:t>
            </a:r>
            <a:endParaRPr lang="en-US" sz="645" dirty="0"/>
          </a:p>
        </p:txBody>
      </p:sp>
      <p:sp>
        <p:nvSpPr>
          <p:cNvPr id="18" name="Shape 16"/>
          <p:cNvSpPr/>
          <p:nvPr/>
        </p:nvSpPr>
        <p:spPr>
          <a:xfrm>
            <a:off x="2523744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34640" y="1792224"/>
            <a:ext cx="192024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80944" y="1920240"/>
            <a:ext cx="41148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1961388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2999232" y="22128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WHATSAPP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2999232" y="2505456"/>
            <a:ext cx="159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Prefilled message: “Mulai Quiz”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xác nhận nguồn Ads, giải thích lợi ích và xin consent phù hợp.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Button: Mulai Quiz</a:t>
            </a:r>
            <a:endParaRPr lang="en-US" sz="685" dirty="0"/>
          </a:p>
        </p:txBody>
      </p:sp>
      <p:sp>
        <p:nvSpPr>
          <p:cNvPr id="24" name="Shape 22"/>
          <p:cNvSpPr/>
          <p:nvPr/>
        </p:nvSpPr>
        <p:spPr>
          <a:xfrm>
            <a:off x="4809744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0640" y="1792224"/>
            <a:ext cx="2487168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66944" y="1920240"/>
            <a:ext cx="822960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1961388"/>
            <a:ext cx="822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5285232" y="2212848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QUIZ 4 CÂU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5285232" y="2505456"/>
            <a:ext cx="21579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 Nhu cầu: Kusam/noda • Kering • Berminyak • Sensitif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 Category: Skincare • Makeup • Haircare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 Ngân sách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 Mua khi nào?</a:t>
            </a:r>
            <a:endParaRPr lang="en-US" sz="645" dirty="0"/>
          </a:p>
        </p:txBody>
      </p:sp>
      <p:sp>
        <p:nvSpPr>
          <p:cNvPr id="30" name="Shape 28"/>
          <p:cNvSpPr/>
          <p:nvPr/>
        </p:nvSpPr>
        <p:spPr>
          <a:xfrm>
            <a:off x="7662672" y="2496312"/>
            <a:ext cx="274320" cy="0"/>
          </a:xfrm>
          <a:prstGeom prst="line">
            <a:avLst/>
          </a:prstGeom>
          <a:noFill/>
          <a:ln w="27940">
            <a:solidFill>
              <a:srgbClr val="7047E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73568" y="1993392"/>
            <a:ext cx="1444752" cy="1024128"/>
          </a:xfrm>
          <a:prstGeom prst="roundRect">
            <a:avLst>
              <a:gd name="adj" fmla="val 71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9872" y="2121408"/>
            <a:ext cx="502920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2162556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8138160" y="24140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TẤT?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2706624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Đủ 4 câu + xem kết quả?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473184" y="2331720"/>
            <a:ext cx="256032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65792" y="1792224"/>
            <a:ext cx="1920240" cy="1426464"/>
          </a:xfrm>
          <a:prstGeom prst="roundRect">
            <a:avLst>
              <a:gd name="adj" fmla="val 5128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12096" y="1920240"/>
            <a:ext cx="475488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12096" y="1961388"/>
            <a:ext cx="4754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9930384" y="22128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LEAD SCORE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9930384" y="2505456"/>
            <a:ext cx="15910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≥7: hỏi giá/tồn kho hoặc mua ≤7 ngày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4–6: cần tư vấn/so sánh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&lt;4: nurture, không đẩy Sales</a:t>
            </a:r>
            <a:endParaRPr lang="en-US" sz="710" dirty="0"/>
          </a:p>
          <a:p>
            <a:pPr indent="0" marL="0">
              <a:buNone/>
            </a:pP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Lead chỉ fire khi đủ chuẩn.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8695944" y="3044952"/>
            <a:ext cx="0" cy="429768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69480" y="3547872"/>
            <a:ext cx="2852928" cy="896112"/>
          </a:xfrm>
          <a:prstGeom prst="roundRect">
            <a:avLst>
              <a:gd name="adj" fmla="val 8163"/>
            </a:avLst>
          </a:prstGeom>
          <a:solidFill>
            <a:srgbClr val="FFE8EB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15784" y="3675888"/>
            <a:ext cx="420624" cy="228600"/>
          </a:xfrm>
          <a:prstGeom prst="round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15784" y="3717036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7434072" y="39684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QUIZ INCOMPLETE</a:t>
            </a:r>
            <a:endParaRPr lang="en-US" sz="960" dirty="0"/>
          </a:p>
          <a:p>
            <a:pPr indent="0" marL="0">
              <a:buNone/>
            </a:pPr>
            <a:r>
              <a:rPr lang="en-US" sz="9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lưu câu trả lời cuối cùng và không tính là Quality Lead.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8695944" y="4480560"/>
            <a:ext cx="0" cy="274320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053328" y="4800600"/>
            <a:ext cx="257860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94690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30 PHÚT — FLW-01</a:t>
            </a:r>
            <a:endParaRPr lang="en-US" sz="1040" dirty="0"/>
          </a:p>
        </p:txBody>
      </p:sp>
      <p:sp>
        <p:nvSpPr>
          <p:cNvPr id="50" name="Text 48"/>
          <p:cNvSpPr/>
          <p:nvPr/>
        </p:nvSpPr>
        <p:spPr>
          <a:xfrm>
            <a:off x="6217920" y="5239512"/>
            <a:ext cx="22494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“Quiz-mu belum selesai. Tinggal beberapa pertanyaan lagi untuk mendapatkan rekomendasi yang lebih relevan. Mau lanjut?”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Lanjutkan Quiz • Nanti</a:t>
            </a:r>
            <a:endParaRPr lang="en-US" sz="690" dirty="0"/>
          </a:p>
        </p:txBody>
      </p:sp>
      <p:sp>
        <p:nvSpPr>
          <p:cNvPr id="51" name="Shape 49"/>
          <p:cNvSpPr/>
          <p:nvPr/>
        </p:nvSpPr>
        <p:spPr>
          <a:xfrm>
            <a:off x="8677656" y="5340096"/>
            <a:ext cx="219456" cy="0"/>
          </a:xfrm>
          <a:prstGeom prst="line">
            <a:avLst/>
          </a:prstGeom>
          <a:noFill/>
          <a:ln w="27940">
            <a:solidFill>
              <a:srgbClr val="E34D59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933688" y="480060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98280" y="4946904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6 GIỜ — FLW-01B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9098280" y="5239512"/>
            <a:ext cx="2002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“Mau lanjut dari pertanyaan terakhir? Hasil rekomendasimu belum selesai.”</a:t>
            </a:r>
            <a:endParaRPr lang="en-US" sz="685" dirty="0"/>
          </a:p>
          <a:p>
            <a:pPr indent="0" marL="0">
              <a:buNone/>
            </a:pPr>
            <a:endParaRPr lang="en-US" sz="685" dirty="0"/>
          </a:p>
          <a:p>
            <a:pPr indent="0" marL="0">
              <a:buNone/>
            </a:pPr>
            <a:r>
              <a:rPr lang="en-US" sz="68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phản hồi: dừng. Ngoài 24h chỉ gửi khi có opt-in và template phù hợp.</a:t>
            </a:r>
            <a:endParaRPr lang="en-US" sz="685" dirty="0"/>
          </a:p>
        </p:txBody>
      </p:sp>
      <p:sp>
        <p:nvSpPr>
          <p:cNvPr id="55" name="Shape 53"/>
          <p:cNvSpPr/>
          <p:nvPr/>
        </p:nvSpPr>
        <p:spPr>
          <a:xfrm>
            <a:off x="502920" y="3685032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383133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KẾT QUẢ CÁ NHÂN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667512" y="4123944"/>
            <a:ext cx="1911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“Fokusmu: {{concern}}. {{SKU}} cocok dipertimbangkan karena {{approved_claim}}.”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Cara pakai • Cek harga • Alternatif</a:t>
            </a:r>
            <a:endParaRPr lang="en-US" sz="715" dirty="0"/>
          </a:p>
        </p:txBody>
      </p:sp>
      <p:sp>
        <p:nvSpPr>
          <p:cNvPr id="58" name="Shape 56"/>
          <p:cNvSpPr/>
          <p:nvPr/>
        </p:nvSpPr>
        <p:spPr>
          <a:xfrm>
            <a:off x="2788920" y="4224528"/>
            <a:ext cx="219456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044952" y="3685032"/>
            <a:ext cx="2240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9544" y="383133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RECOMMENDATION</a:t>
            </a:r>
            <a:endParaRPr lang="en-US" sz="1080" dirty="0"/>
          </a:p>
        </p:txBody>
      </p:sp>
      <p:sp>
        <p:nvSpPr>
          <p:cNvPr id="61" name="Text 59"/>
          <p:cNvSpPr/>
          <p:nvPr/>
        </p:nvSpPr>
        <p:spPr>
          <a:xfrm>
            <a:off x="3209544" y="4123944"/>
            <a:ext cx="19110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+ 1 lựa chọn thay thế.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gửi toàn catalog.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hành động sau 6h → FLW-02.</a:t>
            </a:r>
            <a:endParaRPr lang="en-US" sz="715" dirty="0"/>
          </a:p>
        </p:txBody>
      </p:sp>
      <p:sp>
        <p:nvSpPr>
          <p:cNvPr id="62" name="Shape 60"/>
          <p:cNvSpPr/>
          <p:nvPr/>
        </p:nvSpPr>
        <p:spPr>
          <a:xfrm>
            <a:off x="5330952" y="4224528"/>
            <a:ext cx="219456" cy="0"/>
          </a:xfrm>
          <a:prstGeom prst="line">
            <a:avLst/>
          </a:prstGeom>
          <a:noFill/>
          <a:ln w="27940">
            <a:solidFill>
              <a:srgbClr val="0FA46F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586984" y="3685032"/>
            <a:ext cx="1325880" cy="1078992"/>
          </a:xfrm>
          <a:prstGeom prst="roundRect">
            <a:avLst>
              <a:gd name="adj" fmla="val 678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51576" y="3831336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ĐƠN HÀNG</a:t>
            </a:r>
            <a:endParaRPr lang="en-US" sz="970" dirty="0"/>
          </a:p>
        </p:txBody>
      </p:sp>
      <p:sp>
        <p:nvSpPr>
          <p:cNvPr id="65" name="Text 63"/>
          <p:cNvSpPr/>
          <p:nvPr/>
        </p:nvSpPr>
        <p:spPr>
          <a:xfrm>
            <a:off x="5751576" y="4123944"/>
            <a:ext cx="996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summary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nhân viên xác nhận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utility</a:t>
            </a:r>
            <a:endParaRPr lang="en-US" sz="690" dirty="0"/>
          </a:p>
        </p:txBody>
      </p:sp>
      <p:sp>
        <p:nvSpPr>
          <p:cNvPr id="66" name="Text 64"/>
          <p:cNvSpPr/>
          <p:nvPr/>
        </p:nvSpPr>
        <p:spPr>
          <a:xfrm>
            <a:off x="530352" y="608076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353312" y="6062472"/>
            <a:ext cx="126644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26464" y="6144768"/>
            <a:ext cx="11201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ConversationStart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747772" y="6062472"/>
            <a:ext cx="86410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20924" y="6144768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QuizStart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3739896" y="6062472"/>
            <a:ext cx="101498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13048" y="6144768"/>
            <a:ext cx="868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4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QuizComplete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4882896" y="6062472"/>
            <a:ext cx="111556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56048" y="6144768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6126480" y="6062472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99632" y="6144768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7168896" y="6062472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42048" y="6144768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8119872" y="6062472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193024" y="6144768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Purchase — chốt nhanh nhưng vẫn có kiểm soát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khách đã biết sản phẩm hoặc có ý định cao. AI rút ngắn hội thoại; nhân viên xác nhận đơn và xử lý ngoại lệ.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30352" y="1399032"/>
            <a:ext cx="196596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81328"/>
            <a:ext cx="1819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CAMPAIGN: ENGAGEMENT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2606040" y="1399032"/>
            <a:ext cx="260604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192" y="1481328"/>
            <a:ext cx="245973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APPS → WHATSAPP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5321808" y="1399032"/>
            <a:ext cx="230428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481328"/>
            <a:ext cx="21579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CONVERSATIONS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735824" y="1399032"/>
            <a:ext cx="3657600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08976" y="1481328"/>
            <a:ext cx="35112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UPGRADE: SALES/PURCHASE KHI GATE PASS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2920" y="187452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2002536"/>
            <a:ext cx="502920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043684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667512" y="2295144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ADS CONTENT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67512" y="2587752"/>
            <a:ext cx="1545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UGC problem–solution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Proof: BPOM/keaslian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Value / bundle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/ promo đã duyệt</a:t>
            </a:r>
            <a:endParaRPr lang="en-US" sz="725" dirty="0"/>
          </a:p>
          <a:p>
            <a:pPr indent="0" marL="0">
              <a:buNone/>
            </a:pP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Cek stok / Pesan</a:t>
            </a:r>
            <a:endParaRPr lang="en-US" sz="725" dirty="0"/>
          </a:p>
        </p:txBody>
      </p:sp>
      <p:sp>
        <p:nvSpPr>
          <p:cNvPr id="18" name="Shape 16"/>
          <p:cNvSpPr/>
          <p:nvPr/>
        </p:nvSpPr>
        <p:spPr>
          <a:xfrm>
            <a:off x="2432304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24912" y="1874520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1216" y="2002536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71216" y="2043684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2889504" y="2295144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GREETING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2889504" y="258775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“Kamu datang dari iklan {{produk}}. Mau cek stok dan promo, dibantu memilih, atau langsung pesan?”</a:t>
            </a:r>
            <a:endParaRPr lang="en-US" sz="705" dirty="0"/>
          </a:p>
          <a:p>
            <a:pPr indent="0" marL="0">
              <a:buNone/>
            </a:pP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Cek stok • Bantu pilih • Pesan</a:t>
            </a:r>
            <a:endParaRPr lang="en-US" sz="705" dirty="0"/>
          </a:p>
        </p:txBody>
      </p:sp>
      <p:sp>
        <p:nvSpPr>
          <p:cNvPr id="24" name="Shape 22"/>
          <p:cNvSpPr/>
          <p:nvPr/>
        </p:nvSpPr>
        <p:spPr>
          <a:xfrm>
            <a:off x="4837176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29784" y="1874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76088" y="2002536"/>
            <a:ext cx="384048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6088" y="2043684"/>
            <a:ext cx="38404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20" dirty="0"/>
          </a:p>
        </p:txBody>
      </p:sp>
      <p:sp>
        <p:nvSpPr>
          <p:cNvPr id="28" name="Text 26"/>
          <p:cNvSpPr/>
          <p:nvPr/>
        </p:nvSpPr>
        <p:spPr>
          <a:xfrm>
            <a:off x="5294376" y="229514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QUALIFY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5294376" y="2587752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đa 2 câu trước recommendation: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concern/category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 / thời điểm mua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hỏi lại dữ liệu đã có.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7150608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43216" y="1874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2002536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043684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7607808" y="229514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RECOMMEND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7607808" y="2587752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giá + claim đã duyệt.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Varian • Cara pakai • Pesan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chọn mua → Order summary.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464040" y="2468880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56648" y="187452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02952" y="2002536"/>
            <a:ext cx="50292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02952" y="2043684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9921240" y="229514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HUMAN CONFIRM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9921240" y="258775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kiểm tra tồn kho, ongkir, payment/COD.</a:t>
            </a:r>
            <a:endParaRPr lang="en-US" sz="705" dirty="0"/>
          </a:p>
          <a:p>
            <a:pPr indent="0" marL="0">
              <a:buNone/>
            </a:pP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hợp lệ → Purchase</a:t>
            </a:r>
            <a:endParaRPr lang="en-US" sz="705" dirty="0"/>
          </a:p>
          <a:p>
            <a:pPr indent="0" marL="0">
              <a:buNone/>
            </a:pPr>
            <a:r>
              <a:rPr lang="en-US" sz="70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thành công → Delivered</a:t>
            </a:r>
            <a:endParaRPr lang="en-US" sz="705" dirty="0"/>
          </a:p>
        </p:txBody>
      </p:sp>
      <p:sp>
        <p:nvSpPr>
          <p:cNvPr id="42" name="Shape 40"/>
          <p:cNvSpPr/>
          <p:nvPr/>
        </p:nvSpPr>
        <p:spPr>
          <a:xfrm>
            <a:off x="502920" y="340156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354787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MUA — GẮN REASON</a:t>
            </a:r>
            <a:endParaRPr lang="en-US" sz="1060" dirty="0"/>
          </a:p>
        </p:txBody>
      </p:sp>
      <p:sp>
        <p:nvSpPr>
          <p:cNvPr id="44" name="Text 42"/>
          <p:cNvSpPr/>
          <p:nvPr/>
        </p:nvSpPr>
        <p:spPr>
          <a:xfrm>
            <a:off x="667512" y="384048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Harga • Kecocokan • Keaslian • Pengiriman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lưu reason_no_buy + SKU + source.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2569464" y="3959352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834640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99232" y="35478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— FLW-03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2999232" y="384048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Value/cost-per-use hoặc size phù hợp. Không giảm giá ngay.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Opsi hemat • Pilih awal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901184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65776" y="35478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— FLW-04</a:t>
            </a:r>
            <a:endParaRPr lang="en-US" sz="1040" dirty="0"/>
          </a:p>
        </p:txBody>
      </p:sp>
      <p:sp>
        <p:nvSpPr>
          <p:cNvPr id="51" name="Text 49"/>
          <p:cNvSpPr/>
          <p:nvPr/>
        </p:nvSpPr>
        <p:spPr>
          <a:xfrm>
            <a:off x="5065776" y="384048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 resmi • BPOM • tem/kebijakan đã duyệt.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Lihat bukti • Tanya tim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967728" y="3401568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547872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— FLW-05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7132320" y="3840480"/>
            <a:ext cx="1545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dùng thông tin sản phẩm đã duyệt; nhạy cảm/ngoài KB → handover.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Komposisi • Tim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9034272" y="3401568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98864" y="354787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/ CART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9198864" y="384048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Shipping: hỏi city/postal code.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Cart: 30m FLW-06 → 6h FLW-07 → 24–48h FLW-08 nếu có opt-in/template.</a:t>
            </a:r>
            <a:endParaRPr lang="en-US" sz="695" dirty="0"/>
          </a:p>
          <a:p>
            <a:pPr indent="0" marL="0">
              <a:buNone/>
            </a:pPr>
            <a:r>
              <a:rPr lang="en-US" sz="69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Dừng ngay khi reply/order/opt-out.</a:t>
            </a:r>
            <a:endParaRPr lang="en-US" sz="695" dirty="0"/>
          </a:p>
        </p:txBody>
      </p:sp>
      <p:sp>
        <p:nvSpPr>
          <p:cNvPr id="58" name="Shape 56"/>
          <p:cNvSpPr/>
          <p:nvPr/>
        </p:nvSpPr>
        <p:spPr>
          <a:xfrm>
            <a:off x="502920" y="4800600"/>
            <a:ext cx="11183112" cy="841248"/>
          </a:xfrm>
          <a:prstGeom prst="roundRect">
            <a:avLst>
              <a:gd name="adj" fmla="val 869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" y="4946904"/>
            <a:ext cx="1085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NHÂN VIÊN XÁC NHẬN</a:t>
            </a:r>
            <a:endParaRPr lang="en-US" sz="1060" dirty="0"/>
          </a:p>
        </p:txBody>
      </p:sp>
      <p:sp>
        <p:nvSpPr>
          <p:cNvPr id="60" name="Text 58"/>
          <p:cNvSpPr/>
          <p:nvPr/>
        </p:nvSpPr>
        <p:spPr>
          <a:xfrm>
            <a:off x="667512" y="5239512"/>
            <a:ext cx="10853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Utility: Confirmed → Payment pending (nếu có) → Shipped → Delivered. Không trộn promotion vào utility. Sau Delivered: Day 3 hướng dẫn sử dụng → Day 7 hỏi trải nghiệm → positive mới eligible cross-sell/replenishment.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530352" y="58887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353312" y="5870448"/>
            <a:ext cx="1266444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26464" y="5952744"/>
            <a:ext cx="11201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ConversationStart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2747772" y="5870448"/>
            <a:ext cx="111556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20924" y="5952744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991356" y="5870448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64508" y="5952744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5033772" y="5870448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06924" y="59527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5984748" y="5870448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57900" y="5952744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976872" y="5870448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50024" y="59527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ROAS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Finder / Webview — hai kiến trúc, hai cách follow-up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khác biệt quan trọng: khách ẩn danh trên Webview không thể nhận WhatsApp follow-up nếu chưa chủ động mở chat hoặc cung cấp consent.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2763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WHATSAPP-FIRST  •  KHUYẾN NGHỊ CHO 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1920240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WhatsApp → mở Product Finder Webview. Khách được định danh ngay; Smax giữ context và có thể follow-up trong 24h.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245352" y="1481328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627632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WEBVIEW-FIRST  •  TEST SAU KHI TRACKING ỔN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9944" y="1920240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→ Webview → WhatsApp. Tối ưu được Lead trên web, nhưng người bỏ dở trước khi mở WhatsApp chỉ có thể nhận Ads remarketing.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1664208" cy="1024128"/>
          </a:xfrm>
          <a:prstGeom prst="roundRect">
            <a:avLst>
              <a:gd name="adj" fmla="val 714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68833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980944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“Bandingkan produk berdasarkan kebutuhan dan budget.”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CTA: Lihat produk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2221992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87168" y="2432304"/>
            <a:ext cx="21488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578608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 FILTER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651760" y="2871216"/>
            <a:ext cx="1819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concern / category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 / preference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5–10 SKU pilot</a:t>
            </a:r>
            <a:endParaRPr lang="en-US" sz="740" dirty="0"/>
          </a:p>
          <a:p>
            <a:pPr indent="0" marL="0">
              <a:buNone/>
            </a:pP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hỏi lại trong chat.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4690872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56048" y="2542032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6883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SKU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98094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SKU, budget, comparison và CTA đã chọn.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6638544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2432304"/>
            <a:ext cx="210312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25786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CÓ CONTEXT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7068312" y="2871216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“Kamu tadi melihat {{SKU}} untuk kebutuhan {{concern}}.”</a:t>
            </a:r>
            <a:endParaRPr lang="en-US" sz="715" dirty="0"/>
          </a:p>
          <a:p>
            <a:pPr indent="0" marL="0">
              <a:buNone/>
            </a:pP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Buttons: Cek cocok • Cek stok • Pesan</a:t>
            </a:r>
            <a:endParaRPr lang="en-US" sz="715" dirty="0"/>
          </a:p>
        </p:txBody>
      </p:sp>
      <p:sp>
        <p:nvSpPr>
          <p:cNvPr id="26" name="Shape 24"/>
          <p:cNvSpPr/>
          <p:nvPr/>
        </p:nvSpPr>
        <p:spPr>
          <a:xfrm>
            <a:off x="9061704" y="3054096"/>
            <a:ext cx="228600" cy="0"/>
          </a:xfrm>
          <a:prstGeom prst="line">
            <a:avLst/>
          </a:prstGeom>
          <a:noFill/>
          <a:ln w="27940">
            <a:solidFill>
              <a:srgbClr val="F28B2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326880" y="2432304"/>
            <a:ext cx="2359152" cy="1243584"/>
          </a:xfrm>
          <a:prstGeom prst="roundRect">
            <a:avLst>
              <a:gd name="adj" fmla="val 5882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257860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→ ORDER</a:t>
            </a:r>
            <a:endParaRPr lang="en-US" sz="1110" dirty="0"/>
          </a:p>
        </p:txBody>
      </p:sp>
      <p:sp>
        <p:nvSpPr>
          <p:cNvPr id="29" name="Text 27"/>
          <p:cNvSpPr/>
          <p:nvPr/>
        </p:nvSpPr>
        <p:spPr>
          <a:xfrm>
            <a:off x="9491472" y="2871216"/>
            <a:ext cx="20299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SKU chính + 1 alternative.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mua → reason follow-up.</a:t>
            </a:r>
            <a:endParaRPr lang="en-US" sz="725" dirty="0"/>
          </a:p>
          <a:p>
            <a:pPr indent="0" marL="0">
              <a:buNone/>
            </a:pPr>
            <a:r>
              <a:rPr lang="en-US" sz="72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 → order summary → nhân viên confirm.</a:t>
            </a:r>
            <a:endParaRPr lang="en-US" sz="725" dirty="0"/>
          </a:p>
        </p:txBody>
      </p:sp>
      <p:sp>
        <p:nvSpPr>
          <p:cNvPr id="30" name="Shape 28"/>
          <p:cNvSpPr/>
          <p:nvPr/>
        </p:nvSpPr>
        <p:spPr>
          <a:xfrm>
            <a:off x="502920" y="4041648"/>
            <a:ext cx="3438144" cy="1170432"/>
          </a:xfrm>
          <a:prstGeom prst="roundRect">
            <a:avLst>
              <a:gd name="adj" fmla="val 6250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" y="4169664"/>
            <a:ext cx="41148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4210812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67512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BỎ DỞ — WHATSAPP-FIRST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7512" y="475488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định danh và còn trong 24h: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30m: nhắc tiếp tục từ bước gần nhất.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6h: hỏi “Bạn cần chọn theo nhu cầu hay ngân sách?”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→ quay lại đúng filter/SKU.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160520" y="4041648"/>
            <a:ext cx="3438144" cy="1170432"/>
          </a:xfrm>
          <a:prstGeom prst="roundRect">
            <a:avLst>
              <a:gd name="adj" fmla="val 6250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06824" y="4169664"/>
            <a:ext cx="566928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06824" y="4210812"/>
            <a:ext cx="5669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4325112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BỎ DỞ — WEBVIEW-FIRST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4325112" y="4754880"/>
            <a:ext cx="3108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có phone/WhatsApp consent: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gửi WhatsApp. Dùng Pixel/CAPI để tạo tệp ViewContent/Lead chưa hoàn tất và chạy Ads remarketing.</a:t>
            </a:r>
            <a:endParaRPr lang="en-US" sz="710" dirty="0"/>
          </a:p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mở follow-up sau khi khách chủ động chat.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7818120" y="4041648"/>
            <a:ext cx="3867912" cy="1170432"/>
          </a:xfrm>
          <a:prstGeom prst="roundRect">
            <a:avLst>
              <a:gd name="adj" fmla="val 6250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64424" y="4169664"/>
            <a:ext cx="53035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64424" y="4210812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7982712" y="446227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QUY TẮC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7982712" y="4754880"/>
            <a:ext cx="35387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Webview-first: ViewContent → Qualified Lead khi hoàn tất + chọn SKU/CTA.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WhatsApp-first: ConversationStart → FinderComplete → Qualified Lead.</a:t>
            </a:r>
            <a:endParaRPr lang="en-US" sz="715" dirty="0"/>
          </a:p>
          <a:p>
            <a:pPr indent="0" marL="0">
              <a:buNone/>
            </a:pPr>
            <a:r>
              <a:rPr lang="en-US" sz="71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chỉ sau đơn hợp lệ; dedupe bằng Order ID.</a:t>
            </a:r>
            <a:endParaRPr lang="en-US" sz="715" dirty="0"/>
          </a:p>
        </p:txBody>
      </p:sp>
      <p:sp>
        <p:nvSpPr>
          <p:cNvPr id="45" name="Text 43"/>
          <p:cNvSpPr/>
          <p:nvPr/>
        </p:nvSpPr>
        <p:spPr>
          <a:xfrm>
            <a:off x="530352" y="56875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&amp; KPI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353312" y="5669280"/>
            <a:ext cx="964692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26464" y="5751576"/>
            <a:ext cx="81838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ViewContent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2446020" y="5669280"/>
            <a:ext cx="1115568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9172" y="5751576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FinderComplete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689604" y="5669280"/>
            <a:ext cx="1115568" cy="283464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DDEB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62756" y="5751576"/>
            <a:ext cx="96926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933188" y="5669280"/>
            <a:ext cx="914400" cy="28346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06340" y="5751576"/>
            <a:ext cx="76809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28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OrderDraft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975604" y="5669280"/>
            <a:ext cx="822960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48756" y="5751576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926580" y="5669280"/>
            <a:ext cx="864108" cy="283464"/>
          </a:xfrm>
          <a:prstGeom prst="roundRect">
            <a:avLst/>
          </a:prstGeom>
          <a:solidFill>
            <a:srgbClr val="E3F8EF"/>
          </a:solidFill>
          <a:ln w="12700">
            <a:solidFill>
              <a:srgbClr val="E3F8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9732" y="5751576"/>
            <a:ext cx="71780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A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5" kern="0" dirty="0">
                <a:solidFill>
                  <a:srgbClr val="176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CHI TIẾT 04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Remarketing — không dùng một nội dung cho mọi khách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0642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17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phân tệp theo rào cản và trạng thái đơn; mỗi campaign chỉ gửi nội dung giải quyết đúng một nhiệm vụ.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664208"/>
            <a:ext cx="53035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705356"/>
            <a:ext cx="5303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667512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TỆP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224942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5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Quiz / Product Finder</a:t>
            </a:r>
            <a:endParaRPr lang="en-US" sz="655" dirty="0"/>
          </a:p>
          <a:p>
            <a:pPr indent="0" marL="0">
              <a:buNone/>
            </a:pPr>
            <a:r>
              <a:rPr lang="en-US" sz="65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Hội thoại chưa mua / Bỏ giỏ</a:t>
            </a:r>
            <a:endParaRPr lang="en-US" sz="655" dirty="0"/>
          </a:p>
          <a:p>
            <a:pPr indent="0" marL="0">
              <a:buNone/>
            </a:pPr>
            <a:r>
              <a:rPr lang="en-US" sz="65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Delivered / VIP / Dormant</a:t>
            </a:r>
            <a:endParaRPr lang="en-US" sz="655" dirty="0"/>
          </a:p>
        </p:txBody>
      </p:sp>
      <p:sp>
        <p:nvSpPr>
          <p:cNvPr id="10" name="Shape 8"/>
          <p:cNvSpPr/>
          <p:nvPr/>
        </p:nvSpPr>
        <p:spPr>
          <a:xfrm>
            <a:off x="2523744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16352" y="153619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1664208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17053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2980944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TỆP SMAX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80944" y="224942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reason_no_buy • last_SKU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last_stage • intent • budget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delivered_date • sentiment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marketing_opt_in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4837176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9784" y="153619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76088" y="1664208"/>
            <a:ext cx="438912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17053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620" dirty="0"/>
          </a:p>
        </p:txBody>
      </p:sp>
      <p:sp>
        <p:nvSpPr>
          <p:cNvPr id="20" name="Text 18"/>
          <p:cNvSpPr/>
          <p:nvPr/>
        </p:nvSpPr>
        <p:spPr>
          <a:xfrm>
            <a:off x="5294376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94376" y="224942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mua: Sales/Engagement → WhatsApp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mua: lifecycle segment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10%</a:t>
            </a:r>
            <a:endParaRPr lang="en-US" sz="675" dirty="0"/>
          </a:p>
        </p:txBody>
      </p:sp>
      <p:sp>
        <p:nvSpPr>
          <p:cNvPr id="22" name="Shape 20"/>
          <p:cNvSpPr/>
          <p:nvPr/>
        </p:nvSpPr>
        <p:spPr>
          <a:xfrm>
            <a:off x="7150608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43216" y="1536192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664208"/>
            <a:ext cx="502920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705356"/>
            <a:ext cx="502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7607808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07808" y="2249424"/>
            <a:ext cx="16367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rào cản / một message.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voucher đại trà.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 không trộn promotion.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9464040" y="2075688"/>
            <a:ext cx="256032" cy="0"/>
          </a:xfrm>
          <a:prstGeom prst="line">
            <a:avLst/>
          </a:prstGeom>
          <a:noFill/>
          <a:ln w="27940">
            <a:solidFill>
              <a:srgbClr val="1769E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56648" y="1536192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02952" y="1664208"/>
            <a:ext cx="411480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02952" y="1705356"/>
            <a:ext cx="411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9921240" y="195681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921240" y="2249424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 Purchase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Revenue</a:t>
            </a:r>
            <a:endParaRPr lang="en-US" sz="665" dirty="0"/>
          </a:p>
          <a:p>
            <a:pPr indent="0" marL="0">
              <a:buNone/>
            </a:pPr>
            <a:r>
              <a:rPr lang="en-US" sz="665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 guardrail</a:t>
            </a:r>
            <a:endParaRPr lang="en-US" sz="665" dirty="0"/>
          </a:p>
        </p:txBody>
      </p:sp>
      <p:sp>
        <p:nvSpPr>
          <p:cNvPr id="34" name="Shape 32"/>
          <p:cNvSpPr/>
          <p:nvPr/>
        </p:nvSpPr>
        <p:spPr>
          <a:xfrm>
            <a:off x="502920" y="2971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" y="3099816"/>
            <a:ext cx="420624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667512" y="33924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667512" y="368503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Value/cost-per-use hoặc size thấp hơn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FLW-03 • Lihat opsi hemat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4261104" y="2971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EE8FF"/>
          </a:solidFill>
          <a:ln w="13970">
            <a:solidFill>
              <a:srgbClr val="704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07408" y="3099816"/>
            <a:ext cx="420624" cy="228600"/>
          </a:xfrm>
          <a:prstGeom prst="roundRect">
            <a:avLst/>
          </a:prstGeom>
          <a:solidFill>
            <a:srgbClr val="7047EB"/>
          </a:solidFill>
          <a:ln w="12700">
            <a:solidFill>
              <a:srgbClr val="704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4425696" y="33924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4425696" y="368503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BPOM, distributor resmi, proof đã duyệt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FLW-04 • Lihat bukti</a:t>
            </a:r>
            <a:endParaRPr lang="en-US" sz="670" dirty="0"/>
          </a:p>
        </p:txBody>
      </p:sp>
      <p:sp>
        <p:nvSpPr>
          <p:cNvPr id="44" name="Shape 42"/>
          <p:cNvSpPr/>
          <p:nvPr/>
        </p:nvSpPr>
        <p:spPr>
          <a:xfrm>
            <a:off x="8019288" y="29718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DDEBFF"/>
          </a:solidFill>
          <a:ln w="13970">
            <a:solidFill>
              <a:srgbClr val="1769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65592" y="3099816"/>
            <a:ext cx="420624" cy="228600"/>
          </a:xfrm>
          <a:prstGeom prst="roundRect">
            <a:avLst/>
          </a:prstGeom>
          <a:solidFill>
            <a:srgbClr val="1769E8"/>
          </a:solidFill>
          <a:ln w="12700">
            <a:solidFill>
              <a:srgbClr val="1769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5592" y="314096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8183880" y="339242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8183880" y="368503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phù hợp; ngoài KB → handover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FLW-05 • Hubungi tim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502920" y="420624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0DE"/>
          </a:solidFill>
          <a:ln w="13970">
            <a:solidFill>
              <a:srgbClr val="F28B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" y="4334256"/>
            <a:ext cx="420624" cy="228600"/>
          </a:xfrm>
          <a:prstGeom prst="roundRect">
            <a:avLst/>
          </a:prstGeom>
          <a:solidFill>
            <a:srgbClr val="F28B2D"/>
          </a:solidFill>
          <a:ln w="12700">
            <a:solidFill>
              <a:srgbClr val="F28B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" y="437540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667512" y="462686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667512" y="491947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City/postal code, ongkir, ETA, COD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CNT-19 • Kirim lokasi</a:t>
            </a:r>
            <a:endParaRPr lang="en-US" sz="670" dirty="0"/>
          </a:p>
        </p:txBody>
      </p:sp>
      <p:sp>
        <p:nvSpPr>
          <p:cNvPr id="54" name="Shape 52"/>
          <p:cNvSpPr/>
          <p:nvPr/>
        </p:nvSpPr>
        <p:spPr>
          <a:xfrm>
            <a:off x="4261104" y="420624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E8EB"/>
          </a:solidFill>
          <a:ln w="13970">
            <a:solidFill>
              <a:srgbClr val="E34D5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07408" y="4334256"/>
            <a:ext cx="420624" cy="228600"/>
          </a:xfrm>
          <a:prstGeom prst="round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437540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4425696" y="462686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120" dirty="0"/>
          </a:p>
        </p:txBody>
      </p:sp>
      <p:sp>
        <p:nvSpPr>
          <p:cNvPr id="58" name="Text 56"/>
          <p:cNvSpPr/>
          <p:nvPr/>
        </p:nvSpPr>
        <p:spPr>
          <a:xfrm>
            <a:off x="4425696" y="491947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 reminder → 6h reason → 24–48h template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FLW-06/07/08</a:t>
            </a:r>
            <a:endParaRPr lang="en-US" sz="670" dirty="0"/>
          </a:p>
        </p:txBody>
      </p:sp>
      <p:sp>
        <p:nvSpPr>
          <p:cNvPr id="59" name="Shape 57"/>
          <p:cNvSpPr/>
          <p:nvPr/>
        </p:nvSpPr>
        <p:spPr>
          <a:xfrm>
            <a:off x="8019288" y="420624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3F8EF"/>
          </a:solidFill>
          <a:ln w="13970">
            <a:solidFill>
              <a:srgbClr val="0FA46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65592" y="4334256"/>
            <a:ext cx="420624" cy="228600"/>
          </a:xfrm>
          <a:prstGeom prst="roundRect">
            <a:avLst/>
          </a:prstGeom>
          <a:solidFill>
            <a:srgbClr val="0FA46F"/>
          </a:solidFill>
          <a:ln w="12700">
            <a:solidFill>
              <a:srgbClr val="0FA46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65592" y="4375404"/>
            <a:ext cx="42062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8183880" y="462686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120" dirty="0"/>
          </a:p>
        </p:txBody>
      </p:sp>
      <p:sp>
        <p:nvSpPr>
          <p:cNvPr id="63" name="Text 61"/>
          <p:cNvSpPr/>
          <p:nvPr/>
        </p:nvSpPr>
        <p:spPr>
          <a:xfrm>
            <a:off x="8183880" y="4919472"/>
            <a:ext cx="3191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guide → Day 7 sentiment → cycle 21/30/45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FLW-13/14/16/17</a:t>
            </a:r>
            <a:endParaRPr lang="en-US" sz="670" dirty="0"/>
          </a:p>
        </p:txBody>
      </p:sp>
      <p:sp>
        <p:nvSpPr>
          <p:cNvPr id="64" name="Shape 62"/>
          <p:cNvSpPr/>
          <p:nvPr/>
        </p:nvSpPr>
        <p:spPr>
          <a:xfrm>
            <a:off x="502920" y="5358384"/>
            <a:ext cx="11183112" cy="841248"/>
          </a:xfrm>
          <a:prstGeom prst="roundRect">
            <a:avLst>
              <a:gd name="adj" fmla="val 8696"/>
            </a:avLst>
          </a:prstGeom>
          <a:solidFill>
            <a:srgbClr val="EEF3FB"/>
          </a:solidFill>
          <a:ln w="13970">
            <a:solidFill>
              <a:srgbClr val="B9C9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" y="5504688"/>
            <a:ext cx="10853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0B1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&amp; SUPPRESSION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667512" y="5724144"/>
            <a:ext cx="10853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Dừng ngay khi khách reply, tạo đơn, mua, opt-out hoặc vào flow ưu tiên cao hơn. Ngoài 24h chỉ dùng template/category phù hợp và consent hợp lệ. Negative feedback → suppress marketing + human handover.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13716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180A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Smax.ai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 Group — WhatsApp Ads, Content &amp; Follow-up Flow</dc:title>
  <dc:subject>HV Group WhatsApp Revenue Activation Flow</dc:subject>
  <dc:creator>Smax.ai</dc:creator>
  <cp:lastModifiedBy>Smax.ai</cp:lastModifiedBy>
  <cp:revision>1</cp:revision>
  <dcterms:created xsi:type="dcterms:W3CDTF">2026-08-07T10:06:29Z</dcterms:created>
  <dcterms:modified xsi:type="dcterms:W3CDTF">2026-08-07T10:06:29Z</dcterms:modified>
</cp:coreProperties>
</file>