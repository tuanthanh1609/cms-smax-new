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_MASTER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0160">
            <a:solidFill>
              <a:srgbClr val="D8E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110" kern="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GROUP × SMAX.AI  •  WHATSAPP REVENUE ACTIVATION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875520" y="656539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flow 07/08/2026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TỔNG QUAN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nguồn Ads — bốn luồng doanh thu khác nhau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campaign có nội dung, điểm vào, nhánh follow-up và event riêng. Creative Test là lớp học chung, không phải một funnel độc lập.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8366760" y="347472"/>
            <a:ext cx="315468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9912" y="42976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20/08–02/09  •  100% BUDGET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00784"/>
            <a:ext cx="56692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74193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667512" y="199339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40% → 50%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2860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157276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71907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72491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• Proof/BPOM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• Value/Bundle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38912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71907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28032" y="20116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“Cek stok / Pesan”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53796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1228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171907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976872" y="20116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hỏi tối đa 2 tín hiệu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SKU → Order summary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6868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1120" y="157276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171907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125712" y="201168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Price / Trust / Fit / Shipping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Utility + chăm sóc</a:t>
            </a:r>
            <a:endParaRPr lang="en-US" sz="690" dirty="0"/>
          </a:p>
        </p:txBody>
      </p:sp>
      <p:sp>
        <p:nvSpPr>
          <p:cNvPr id="27" name="Shape 25"/>
          <p:cNvSpPr/>
          <p:nvPr/>
        </p:nvSpPr>
        <p:spPr>
          <a:xfrm>
            <a:off x="1069848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972800" y="157276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37392" y="171907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• Delivered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502920" y="257860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2706624"/>
            <a:ext cx="566928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274777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67512" y="299923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22% → 15%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22860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560320" y="257860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27249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2724912" y="301752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hook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temukan produk”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38912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66344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7249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828032" y="30175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mở Quiz Webview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53796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81228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27249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6976872" y="30175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câu: concern • 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• buying timing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86868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961120" y="25786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25712" y="272491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9125712" y="301752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dở: 30m + 6h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tất: score Hot/Warm/Cold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1069848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972800" y="257860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137392" y="272491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• Delivered</a:t>
            </a:r>
            <a:endParaRPr lang="en-US" sz="640" dirty="0"/>
          </a:p>
        </p:txBody>
      </p:sp>
      <p:sp>
        <p:nvSpPr>
          <p:cNvPr id="53" name="Shape 51"/>
          <p:cNvSpPr/>
          <p:nvPr/>
        </p:nvSpPr>
        <p:spPr>
          <a:xfrm>
            <a:off x="502920" y="358444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" y="37124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" y="37536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667512" y="400507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→ 13% → 10%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22860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560320" y="358444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24912" y="37307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2724912" y="402336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• Budget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/ Benefit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438912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66344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73075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4828032" y="40233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WhatsApp-first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653796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81228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76872" y="373075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6976872" y="40233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→ chọn SKU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lưu context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86868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961120" y="358444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25712" y="37307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9125712" y="402336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Ẩn danh: Ads remarketing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danh: WhatsApp follow-up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1069848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0972800" y="358444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137392" y="373075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 • Lead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502920" y="45902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9224" y="4718304"/>
            <a:ext cx="56692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" y="475945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667512" y="501091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&amp; REPEAT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15% → 20%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22860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2560320" y="459028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24912" y="473659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83" name="Text 81"/>
          <p:cNvSpPr/>
          <p:nvPr/>
        </p:nvSpPr>
        <p:spPr>
          <a:xfrm>
            <a:off x="2724912" y="502920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• Trust • Fit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• Replenishment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438912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466344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28032" y="4736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87" name="Text 85"/>
          <p:cNvSpPr/>
          <p:nvPr/>
        </p:nvSpPr>
        <p:spPr>
          <a:xfrm>
            <a:off x="4828032" y="50292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theo reason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lifecycle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653796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681228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76872" y="4736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91" name="Text 89"/>
          <p:cNvSpPr/>
          <p:nvPr/>
        </p:nvSpPr>
        <p:spPr>
          <a:xfrm>
            <a:off x="6976872" y="50292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đúng rào cản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quay lại WhatsApp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86868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8961120" y="459028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125712" y="473659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95" name="Text 93"/>
          <p:cNvSpPr/>
          <p:nvPr/>
        </p:nvSpPr>
        <p:spPr>
          <a:xfrm>
            <a:off x="9125712" y="502920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 / Bỏ giỏ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 / VIP / Dormant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1069848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0972800" y="459028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137392" y="473659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Revenue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640" dirty="0"/>
          </a:p>
        </p:txBody>
      </p:sp>
      <p:sp>
        <p:nvSpPr>
          <p:cNvPr id="99" name="Shape 97"/>
          <p:cNvSpPr/>
          <p:nvPr/>
        </p:nvSpPr>
        <p:spPr>
          <a:xfrm>
            <a:off x="502920" y="5532120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7512" y="5678424"/>
            <a:ext cx="10853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TEST — LỚP HỌC CHUNG CHO TOÀN BỘ FUNNEL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667512" y="5897880"/>
            <a:ext cx="10853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Creator • CTA • Offer • Timing. Mỗi test chỉ đổi 1 biến; giữ nguyên objective, audience và placements. Chọn winner theo cost/đơn giao thành công và Net ROAS — không theo CTR/CPC.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 — từ quảng cáo đến đơn hàng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pilot ưu tiên WhatsApp-first để Smax định danh khách trước, lưu tiến độ và có thể follow-up người bỏ dở.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205740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911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LEADS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97480" y="1399032"/>
            <a:ext cx="288036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481328"/>
            <a:ext cx="2734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SET: 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87568" y="1399032"/>
            <a:ext cx="233172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81328"/>
            <a:ext cx="21854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138160" y="1399032"/>
            <a:ext cx="315468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48132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DOWNSTREAM: QUALIFIED LEAD → PURCHASE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883664"/>
            <a:ext cx="1965960" cy="1243584"/>
          </a:xfrm>
          <a:prstGeom prst="roundRect">
            <a:avLst>
              <a:gd name="adj" fmla="val 5882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011680"/>
            <a:ext cx="50292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052828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30428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A/B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67512" y="2596896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Problem hook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“Kulit kusam, kering atau sensitif?”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Result hook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untuk menemukan produk yang cocok”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Mulai Quiz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23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34640" y="1883664"/>
            <a:ext cx="1920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2011680"/>
            <a:ext cx="41148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205282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999232" y="230428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WHATSAPP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2999232" y="2596896"/>
            <a:ext cx="1591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Prefilled message: “Mulai Quiz”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xác nhận nguồn Ads, giải thích lợi ích và xin consent phù hợp.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Button: Mulai Quiz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09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0640" y="1792224"/>
            <a:ext cx="2487168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6944" y="1920240"/>
            <a:ext cx="82296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1961388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85232" y="22128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QUIZ 4 CÂU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5285232" y="2505456"/>
            <a:ext cx="2157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Nhu cầu chính?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Kusam/noda • Kering • Berminyak • Sensitif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Nhóm sản phẩm?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• Makeup • Haircare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Ngân sách?   Q4  Mua khi nào?</a:t>
            </a:r>
            <a:endParaRPr lang="en-US" sz="735" dirty="0"/>
          </a:p>
        </p:txBody>
      </p:sp>
      <p:sp>
        <p:nvSpPr>
          <p:cNvPr id="30" name="Shape 28"/>
          <p:cNvSpPr/>
          <p:nvPr/>
        </p:nvSpPr>
        <p:spPr>
          <a:xfrm>
            <a:off x="7662672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73568" y="1993392"/>
            <a:ext cx="1444752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2121408"/>
            <a:ext cx="502920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21625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8138160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2706624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4 câu + xem kết quả?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73184" y="2331720"/>
            <a:ext cx="256032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65792" y="1792224"/>
            <a:ext cx="1920240" cy="1426464"/>
          </a:xfrm>
          <a:prstGeom prst="roundRect">
            <a:avLst>
              <a:gd name="adj" fmla="val 5128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12096" y="1920240"/>
            <a:ext cx="47548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2096" y="1961388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30384" y="22128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LEAD SCORE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9930384" y="2505456"/>
            <a:ext cx="159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≥7: hỏi giá/tồn kho hoặc mua ≤7 ngày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4–6: cần tư vấn/so sánh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&lt;4: nurture, không đẩy Sales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Lead chỉ fire khi đủ chuẩn.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8695944" y="3044952"/>
            <a:ext cx="0" cy="429768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69480" y="3547872"/>
            <a:ext cx="2852928" cy="896112"/>
          </a:xfrm>
          <a:prstGeom prst="roundRect">
            <a:avLst>
              <a:gd name="adj" fmla="val 816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15784" y="3675888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15784" y="371703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7434072" y="39684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QUIZ INCOMPLETE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câu trả lời cuối cùng và không tính là Quality Lead.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8695944" y="4480560"/>
            <a:ext cx="0" cy="27432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53328" y="4800600"/>
            <a:ext cx="257860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94690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30 PHÚT — FLW-01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6217920" y="5239512"/>
            <a:ext cx="22494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“Quiz-mu belum selesai. Tinggal beberapa pertanyaan lagi untuk mendapatkan rekomendasi yang lebih relevan. Mau lanjut?”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Lanjutkan Quiz • Nanti</a:t>
            </a:r>
            <a:endParaRPr lang="en-US" sz="690" dirty="0"/>
          </a:p>
        </p:txBody>
      </p:sp>
      <p:sp>
        <p:nvSpPr>
          <p:cNvPr id="51" name="Shape 49"/>
          <p:cNvSpPr/>
          <p:nvPr/>
        </p:nvSpPr>
        <p:spPr>
          <a:xfrm>
            <a:off x="8677656" y="5340096"/>
            <a:ext cx="219456" cy="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933688" y="480060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494690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6 GIỜ — FLW-01B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9098280" y="5239512"/>
            <a:ext cx="2002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“Mau lanjut dari pertanyaan terakhir? Hasil rekomendasimu belum selesai.”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phản hồi: dừng. Ngoài 24h chỉ gửi khi có opt-in và template phù hợp.</a:t>
            </a:r>
            <a:endParaRPr lang="en-US" sz="685" dirty="0"/>
          </a:p>
        </p:txBody>
      </p:sp>
      <p:sp>
        <p:nvSpPr>
          <p:cNvPr id="55" name="Shape 53"/>
          <p:cNvSpPr/>
          <p:nvPr/>
        </p:nvSpPr>
        <p:spPr>
          <a:xfrm>
            <a:off x="502920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383133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 CÁ NHÂN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667512" y="4123944"/>
            <a:ext cx="1911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“Fokusmu: {{concern}}. {{SKU}} cocok dipertimbangkan karena {{approved_claim}}.”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Cara pakai • Cek harga • Alternatif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2788920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044952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9544" y="383133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RECOMMENDATION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3209544" y="4123944"/>
            <a:ext cx="1911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lựa chọn thay thế.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toàn catalog.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hành động sau 6h → FLW-02.</a:t>
            </a:r>
            <a:endParaRPr lang="en-US" sz="715" dirty="0"/>
          </a:p>
        </p:txBody>
      </p:sp>
      <p:sp>
        <p:nvSpPr>
          <p:cNvPr id="62" name="Shape 60"/>
          <p:cNvSpPr/>
          <p:nvPr/>
        </p:nvSpPr>
        <p:spPr>
          <a:xfrm>
            <a:off x="5330952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586984" y="3685032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51576" y="383133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ĐƠN HÀNG</a:t>
            </a:r>
            <a:endParaRPr lang="en-US" sz="970" dirty="0"/>
          </a:p>
        </p:txBody>
      </p:sp>
      <p:sp>
        <p:nvSpPr>
          <p:cNvPr id="65" name="Text 63"/>
          <p:cNvSpPr/>
          <p:nvPr/>
        </p:nvSpPr>
        <p:spPr>
          <a:xfrm>
            <a:off x="5751576" y="4123944"/>
            <a:ext cx="996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summary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nhân viên xác nhận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utility</a:t>
            </a:r>
            <a:endParaRPr lang="en-US" sz="690" dirty="0"/>
          </a:p>
        </p:txBody>
      </p:sp>
      <p:sp>
        <p:nvSpPr>
          <p:cNvPr id="66" name="Text 64"/>
          <p:cNvSpPr/>
          <p:nvPr/>
        </p:nvSpPr>
        <p:spPr>
          <a:xfrm>
            <a:off x="530352" y="6080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353312" y="6062472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26464" y="6144768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747772" y="6062472"/>
            <a:ext cx="86410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209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QuizStart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3739896" y="6062472"/>
            <a:ext cx="101498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13048" y="614476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QuizComplete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882896" y="6062472"/>
            <a:ext cx="111556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56048" y="6144768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6126480" y="6062472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99632" y="6144768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7168896" y="6062472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42048" y="6144768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119872" y="6062472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930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 — chốt nhanh nhưng vẫn có kiểm soát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khách đã biết sản phẩm hoặc có ý định cao. AI rút ngắn hội thoại; nhân viên xác nhận đơn và xử lý ngoại lệ.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196596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819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ENGAGEMENT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06040" y="1399032"/>
            <a:ext cx="260604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481328"/>
            <a:ext cx="24597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321808" y="1399032"/>
            <a:ext cx="230428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81328"/>
            <a:ext cx="2157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735824" y="1399032"/>
            <a:ext cx="365760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1481328"/>
            <a:ext cx="35112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UPGRADE: SALES/PURCHASE KHI GATE PASS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002536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295144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CONTENT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67512" y="2587752"/>
            <a:ext cx="1545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 problem–solution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Proof: BPOM/keaslian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Value / bundle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/ promo đã duyệt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Cek stok / Pesan</a:t>
            </a:r>
            <a:endParaRPr lang="en-US" sz="725" dirty="0"/>
          </a:p>
        </p:txBody>
      </p:sp>
      <p:sp>
        <p:nvSpPr>
          <p:cNvPr id="18" name="Shape 16"/>
          <p:cNvSpPr/>
          <p:nvPr/>
        </p:nvSpPr>
        <p:spPr>
          <a:xfrm>
            <a:off x="2432304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24912" y="187452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1216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71216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889504" y="229514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GREETING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2889504" y="258775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datang dari iklan {{produk}}. Mau cek stok dan promo, dibantu memilih, atau langsung pesan?”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stok • Bantu pilih • Pesan</a:t>
            </a:r>
            <a:endParaRPr lang="en-US" sz="705" dirty="0"/>
          </a:p>
        </p:txBody>
      </p:sp>
      <p:sp>
        <p:nvSpPr>
          <p:cNvPr id="24" name="Shape 22"/>
          <p:cNvSpPr/>
          <p:nvPr/>
        </p:nvSpPr>
        <p:spPr>
          <a:xfrm>
            <a:off x="4837176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9784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76088" y="2002536"/>
            <a:ext cx="38404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043684"/>
            <a:ext cx="3840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94376" y="229514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QUALIFY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5294376" y="2587752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đa 2 câu trước recommendation: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concern/category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/ thời điểm mua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dữ liệu đã có.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7150608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43216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7607808" y="229514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RECOMMEND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7607808" y="2587752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giá + claim đã duyệt.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Varian • Cara pakai • Pesan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chọn mua → Order summary.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64040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56648" y="18745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02952" y="2002536"/>
            <a:ext cx="50292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2952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21240" y="229514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HUMAN CONFIRM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9921240" y="25877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kiểm tra tồn kho, ongkir, payment/COD.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hợp lệ → Purchase</a:t>
            </a: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thành công → Delivered</a:t>
            </a:r>
            <a:endParaRPr lang="en-US" sz="705" dirty="0"/>
          </a:p>
        </p:txBody>
      </p:sp>
      <p:sp>
        <p:nvSpPr>
          <p:cNvPr id="42" name="Shape 40"/>
          <p:cNvSpPr/>
          <p:nvPr/>
        </p:nvSpPr>
        <p:spPr>
          <a:xfrm>
            <a:off x="502920" y="34015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354787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— GẮN REASON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667512" y="38404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Harga • Kecocokan • Keaslian • Pengiriman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reason_no_buy + SKU + source.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2569464" y="3959352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834640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9232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— FLW-03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2999232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phù hợp. Không giảm giá ngay.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Opsi hemat • Pilih awal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901184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— FLW-04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65776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resmi • BPOM • tem/kebijakan đã duyệt.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bukti • Tanya tim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967728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— FLW-05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7132320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dùng thông tin sản phẩm đã duyệt; nhạy cảm/ngoài KB → handover.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Komposisi • Tim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9034272" y="340156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98864" y="35478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/ CART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9198864" y="38404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Shipping: hỏi city/postal code.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Cart: 30m FLW-06 → 6h FLW-07 → 24–48h FLW-08 nếu có opt-in/template.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reply/order/opt-out.</a:t>
            </a:r>
            <a:endParaRPr lang="en-US" sz="695" dirty="0"/>
          </a:p>
        </p:txBody>
      </p:sp>
      <p:sp>
        <p:nvSpPr>
          <p:cNvPr id="58" name="Shape 56"/>
          <p:cNvSpPr/>
          <p:nvPr/>
        </p:nvSpPr>
        <p:spPr>
          <a:xfrm>
            <a:off x="502920" y="4800600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" y="4946904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NHÂN VIÊN XÁC NHẬN</a:t>
            </a:r>
            <a:endParaRPr lang="en-US" sz="1060" dirty="0"/>
          </a:p>
        </p:txBody>
      </p:sp>
      <p:sp>
        <p:nvSpPr>
          <p:cNvPr id="60" name="Text 58"/>
          <p:cNvSpPr/>
          <p:nvPr/>
        </p:nvSpPr>
        <p:spPr>
          <a:xfrm>
            <a:off x="667512" y="5239512"/>
            <a:ext cx="10853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Utility: Confirmed → Payment pending (nếu có) → Shipped → Delivered. Không trộn promotion vào utility. Sau Delivered: Day 3 hướng dẫn sử dụng → Day 7 hỏi trải nghiệm → positive mới eligible cross-sell/replenishment.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530352" y="58887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353312" y="5870448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26464" y="5952744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2747772" y="5870448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20924" y="5952744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991356" y="5870448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4508" y="5952744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50337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069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984748" y="5870448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57900" y="5952744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9768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00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 / Webview — hai kiến trúc, hai cách follow-up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khác biệt quan trọng: khách ẩn danh trên Webview không thể nhận WhatsApp follow-up nếu chưa chủ động mở chat hoặc cung cấp consent.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2763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WHATSAPP-FIRST  •  KHUYẾN NGHỊ CHO 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19202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WhatsApp → mở Product Finder Webview. Khách được định danh ngay; Smax giữ context và có thể follow-up trong 24h.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245352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62763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WEBVIEW-FIRST  •  TEST SAU KHI TRACKING ỔN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9944" y="19202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 → WhatsApp. Tối ưu được Lead trên web, nhưng người bỏ dở trước khi mở WhatsApp chỉ có thể nhận Ads remarketing.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1664208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883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980944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“Bandingkan produk berdasarkan kebutuhan dan budget.”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produk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22199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432304"/>
            <a:ext cx="21488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57860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 FILTER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651760" y="2871216"/>
            <a:ext cx="1819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 / category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/ preference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5–10 SKU pilot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trong chat.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69087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56048" y="25420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6883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SKU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98094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SKU, budget, comparison và CTA đã chọn.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63854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2432304"/>
            <a:ext cx="210312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25786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CÓ CONTEXT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7068312" y="2871216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tadi melihat {{SKU}} untuk kebutuhan {{concern}}.”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cocok • Cek stok • Pesan</a:t>
            </a:r>
            <a:endParaRPr lang="en-US" sz="715" dirty="0"/>
          </a:p>
        </p:txBody>
      </p:sp>
      <p:sp>
        <p:nvSpPr>
          <p:cNvPr id="26" name="Shape 24"/>
          <p:cNvSpPr/>
          <p:nvPr/>
        </p:nvSpPr>
        <p:spPr>
          <a:xfrm>
            <a:off x="906170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26880" y="2432304"/>
            <a:ext cx="2359152" cy="1243584"/>
          </a:xfrm>
          <a:prstGeom prst="roundRect">
            <a:avLst>
              <a:gd name="adj" fmla="val 5882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578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→ ORDER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9491472" y="2871216"/>
            <a:ext cx="2029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alternative.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→ reason follow-up.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→ order summary → nhân viên confirm.</a:t>
            </a:r>
            <a:endParaRPr lang="en-US" sz="725" dirty="0"/>
          </a:p>
        </p:txBody>
      </p:sp>
      <p:sp>
        <p:nvSpPr>
          <p:cNvPr id="30" name="Shape 28"/>
          <p:cNvSpPr/>
          <p:nvPr/>
        </p:nvSpPr>
        <p:spPr>
          <a:xfrm>
            <a:off x="5029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4169664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210812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67512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WHATSAPP-FIRST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7512" y="47548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định danh và còn trong 24h: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30m: nhắc tiếp tục từ bước gần nhất.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6h: hỏi “Bạn cần chọn theo nhu cầu hay ngân sách?”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→ quay lại đúng filter/SKU.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1605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06824" y="41696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42108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4325112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WEBVIEW-FIRST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4325112" y="47548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phone/WhatsApp consent: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WhatsApp. Dùng Pixel/CAPI để tạo tệp ViewContent/Lead chưa hoàn tất và chạy Ads remarketing.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mở follow-up sau khi khách chủ động chat.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7818120" y="4041648"/>
            <a:ext cx="3867912" cy="1170432"/>
          </a:xfrm>
          <a:prstGeom prst="roundRect">
            <a:avLst>
              <a:gd name="adj" fmla="val 6250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64424" y="4169664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64424" y="4210812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7982712" y="446227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QUY TẮC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7982712" y="4754880"/>
            <a:ext cx="3538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Webview-first: ViewContent → Qualified Lead khi hoàn tất + chọn SKU/CTA.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WhatsApp-first: ConversationStart → FinderComplete → Qualified Lead.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chỉ sau đơn hợp lệ; dedupe bằng Order ID.</a:t>
            </a:r>
            <a:endParaRPr lang="en-US" sz="715" dirty="0"/>
          </a:p>
        </p:txBody>
      </p:sp>
      <p:sp>
        <p:nvSpPr>
          <p:cNvPr id="45" name="Text 43"/>
          <p:cNvSpPr/>
          <p:nvPr/>
        </p:nvSpPr>
        <p:spPr>
          <a:xfrm>
            <a:off x="530352" y="56875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353312" y="5669280"/>
            <a:ext cx="964692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26464" y="5751576"/>
            <a:ext cx="8183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446020" y="5669280"/>
            <a:ext cx="1115568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9172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FinderComplete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689604" y="5669280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62756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33188" y="5669280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6340" y="5751576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975604" y="5669280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48756" y="5751576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926580" y="5669280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9732" y="5751576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— không dùng một nội dung cho mọi khách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phân tệp theo rào cản và trạng thái đơn; mỗi campaign chỉ gửi nội dung giải quyết đúng một nhiệm vụ.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664208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705356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667512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TỆP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249424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Quiz/Product Finder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Hội thoại chưa mua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Bỏ giỏ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Đã mua/Delivered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VIP/Dormant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523744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2980944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TỆP SMAX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80944" y="2249424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reason_no_buy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last_SKU • last_stage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• budget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delivered_date • sentiment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marketing_opt_in</a:t>
            </a:r>
            <a:endParaRPr lang="en-US" sz="725" dirty="0"/>
          </a:p>
        </p:txBody>
      </p:sp>
      <p:sp>
        <p:nvSpPr>
          <p:cNvPr id="16" name="Shape 14"/>
          <p:cNvSpPr/>
          <p:nvPr/>
        </p:nvSpPr>
        <p:spPr>
          <a:xfrm>
            <a:off x="4837176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9784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5294376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94376" y="2249424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Sales/Engagement → WhatsApp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lifecycle segment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10%</a:t>
            </a:r>
            <a:endParaRPr lang="en-US" sz="725" dirty="0"/>
          </a:p>
        </p:txBody>
      </p:sp>
      <p:sp>
        <p:nvSpPr>
          <p:cNvPr id="22" name="Shape 20"/>
          <p:cNvSpPr/>
          <p:nvPr/>
        </p:nvSpPr>
        <p:spPr>
          <a:xfrm>
            <a:off x="7150608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43216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664208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7053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7607808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07808" y="2249424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rào cản / một message.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voucher đại trà.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không trộn promotion.</a:t>
            </a:r>
            <a:endParaRPr lang="en-US" sz="725" dirty="0"/>
          </a:p>
        </p:txBody>
      </p:sp>
      <p:sp>
        <p:nvSpPr>
          <p:cNvPr id="28" name="Shape 26"/>
          <p:cNvSpPr/>
          <p:nvPr/>
        </p:nvSpPr>
        <p:spPr>
          <a:xfrm>
            <a:off x="9464040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56648" y="153619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02952" y="1664208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02952" y="1705356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9921240" y="195681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921240" y="2249424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Purchase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Revenue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 guardrail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099816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667512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67512" y="3685032"/>
            <a:ext cx="3191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thấp hơn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FLW-03 • Lihat opsi hemat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4261104" y="297180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3099816"/>
            <a:ext cx="420624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4425696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425696" y="3685032"/>
            <a:ext cx="3191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BPOM, distributor resmi, proof đã duyệt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FLW-04 • Lihat bukti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8019288" y="297180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65592" y="3099816"/>
            <a:ext cx="420624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8183880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183880" y="3685032"/>
            <a:ext cx="3191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phù hợp; ngoài KB → handover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FLW-05 • Hubungi tim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502920" y="4142232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" y="4270248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" y="431139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667512" y="45628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667512" y="4855464"/>
            <a:ext cx="3191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City/postal code, ongkir, ETA, COD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CNT-19 • Kirim lokasi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4261104" y="4142232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07408" y="4270248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431139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4425696" y="45628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4425696" y="4855464"/>
            <a:ext cx="3191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 reminder → 6h reason → 24–48h template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FLW-06/07/08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8019288" y="4142232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65592" y="4270248"/>
            <a:ext cx="420624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65592" y="431139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8183880" y="45628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20" dirty="0"/>
          </a:p>
        </p:txBody>
      </p:sp>
      <p:sp>
        <p:nvSpPr>
          <p:cNvPr id="63" name="Text 61"/>
          <p:cNvSpPr/>
          <p:nvPr/>
        </p:nvSpPr>
        <p:spPr>
          <a:xfrm>
            <a:off x="8183880" y="4855464"/>
            <a:ext cx="3191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guide → Day 7 sentiment → cycle 21/30/45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FLW-13/14/16/17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502920" y="5358384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" y="5504688"/>
            <a:ext cx="10853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&amp; SUPPRESSION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667512" y="5724144"/>
            <a:ext cx="10853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khách reply, tạo đơn, mua, opt-out hoặc vào flow ưu tiên cao hơn. Ngoài 24h chỉ dùng template/category phù hợp và consent hợp lệ. Negative feedback → suppress marketing + human handover.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Smax.ai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 Group — WhatsApp Ads, Content &amp; Follow-up Flow</dc:title>
  <dc:subject>HV Group WhatsApp Revenue Activation Flow</dc:subject>
  <dc:creator>Smax.ai</dc:creator>
  <cp:lastModifiedBy>Smax.ai</cp:lastModifiedBy>
  <cp:revision>1</cp:revision>
  <dcterms:created xsi:type="dcterms:W3CDTF">2026-08-07T09:58:41Z</dcterms:created>
  <dcterms:modified xsi:type="dcterms:W3CDTF">2026-08-07T09:58:41Z</dcterms:modified>
</cp:coreProperties>
</file>